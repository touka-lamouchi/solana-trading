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</p:sp>
      <p:sp>
        <p:nvSpPr>
          <p:cNvPr id="3" name="Band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685800" y="1397000"/>
            <a:ext cx="7162800" cy="137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300">
                <a:b/>
                <a:solidFill>
                  <a:srgbClr val="111827"/>
                </a:solidFill>
              </a:rPr>
              <a:t>PFE 2026 - Solana Autonomous Trading Bot</a:t>
            </a:r>
            <a:endParaRPr lang="en-US" sz="4300"/>
          </a:p>
        </p:txBody>
      </p:sp>
      <p:sp>
        <p:nvSpPr>
          <p:cNvPr id="5" name="Subtitle"/>
          <p:cNvSpPr txBox="1"/>
          <p:nvPr/>
        </p:nvSpPr>
        <p:spPr>
          <a:xfrm>
            <a:off x="685800" y="29464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600">
                <a:solidFill>
                  <a:srgbClr val="374151"/>
                </a:solidFill>
              </a:rPr>
              <a:t>[Intern Name]</a:t>
            </a:r>
            <a:endParaRPr lang="en-US" sz="2600"/>
          </a:p>
          <a:p>
            <a:r>
              <a:rPr lang="en-US" sz="2600">
                <a:solidFill>
                  <a:srgbClr val="374151"/>
                </a:solidFill>
              </a:rPr>
              <a:t>[University Name]</a:t>
            </a:r>
            <a:endParaRPr lang="en-US" sz="2600"/>
          </a:p>
        </p:txBody>
      </p:sp>
      <p:sp>
        <p:nvSpPr>
          <p:cNvPr id="6" name="PhotoBox"/>
          <p:cNvSpPr/>
          <p:nvPr/>
        </p:nvSpPr>
        <p:spPr>
          <a:xfrm>
            <a:off x="8382000" y="1371600"/>
            <a:ext cx="2590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PhotoText"/>
          <p:cNvSpPr txBox="1"/>
          <p:nvPr/>
        </p:nvSpPr>
        <p:spPr>
          <a:xfrm>
            <a:off x="8763000" y="25800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700">
                <a:solidFill>
                  <a:srgbClr val="64748B"/>
                </a:solidFill>
              </a:rPr>
              <a:t>[Insert intern photo here]</a:t>
            </a:r>
            <a:endParaRPr lang="en-US" sz="1700"/>
          </a:p>
        </p:txBody>
      </p:sp>
      <p:sp>
        <p:nvSpPr>
          <p:cNvPr id="8" name="Footer"/>
          <p:cNvSpPr txBox="1"/>
          <p:nvPr/>
        </p:nvSpPr>
        <p:spPr>
          <a:xfrm>
            <a:off x="685800" y="59436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00">
                <a:solidFill>
                  <a:srgbClr val="64748B"/>
                </a:solidFill>
              </a:rPr>
              <a:t>Supervisors submission - before 6:00 PM</a:t>
            </a:r>
            <a:endParaRPr lang="en-US" sz="1600"/>
          </a:p>
        </p:txBody>
      </p:sp>
      <p:sp>
        <p:nvSpPr>
          <p:cNvPr id="9" name="Top"/>
          <p:cNvSpPr txBox="1"/>
          <p:nvPr/>
        </p:nvSpPr>
        <p:spPr>
          <a:xfrm>
            <a:off x="685800" y="2286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>
                <a:b/>
                <a:solidFill>
                  <a:srgbClr val="FFFFFF"/>
                </a:solidFill>
              </a:rPr>
              <a:t>Internship Presentation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3" name="LeftBar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685800" y="457200"/>
            <a:ext cx="91440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600">
                <a:b/>
                <a:solidFill>
                  <a:srgbClr val="111827"/>
                </a:solidFill>
              </a:rPr>
              <a:t>Project Description</a:t>
            </a:r>
            <a:endParaRPr lang="en-US" sz="3600"/>
          </a:p>
        </p:txBody>
      </p:sp>
      <p:sp>
        <p:nvSpPr>
          <p:cNvPr id="5" name="Bullets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?"/>
            </a:pPr>
            <a:r>
              <a:rPr lang="en-US" sz="2000">
                <a:solidFill>
                  <a:srgbClr val="1F2937"/>
                </a:solidFill>
              </a:rPr>
              <a:t>Goal: build a multi-user autonomous trading platform on Solana.</a:t>
            </a:r>
          </a:p>
          <a:p>
            <a:pPr marL="342900" indent="-171450">
              <a:buChar char="?"/>
            </a:pPr>
            <a:r>
              <a:rPr lang="en-US" sz="2000">
                <a:solidFill>
                  <a:srgbClr val="1F2937"/>
                </a:solidFill>
              </a:rPr>
              <a:t>The bot watches real market signals: candles, whale activity, sentiment, mempool flow, and volatility expansion.</a:t>
            </a:r>
          </a:p>
          <a:p>
            <a:pPr marL="342900" indent="-171450">
              <a:buChar char="?"/>
            </a:pPr>
            <a:r>
              <a:rPr lang="en-US" sz="2000">
                <a:solidFill>
                  <a:srgbClr val="1F2937"/>
                </a:solidFill>
              </a:rPr>
              <a:t>It detects opportunities including arbitrage, yield gaps, liquidations, chart patterns, social buzz, copy-whale signals, and mempool pressure.</a:t>
            </a:r>
          </a:p>
          <a:p>
            <a:pPr marL="342900" indent="-171450">
              <a:buChar char="?"/>
            </a:pPr>
            <a:r>
              <a:rPr lang="en-US" sz="2000">
                <a:solidFill>
                  <a:srgbClr val="1F2937"/>
                </a:solidFill>
              </a:rPr>
              <a:t>Execution plan: discover opportunities, score them with AI, apply safety/protection checks, then execute trades on DevNet through Anchor programs.</a:t>
            </a:r>
          </a:p>
          <a:p>
            <a:pPr marL="342900" indent="-171450">
              <a:buChar char="?"/>
            </a:pPr>
            <a:r>
              <a:rPr lang="en-US" sz="2000">
                <a:solidFill>
                  <a:srgbClr val="1F2937"/>
                </a:solidFill>
              </a:rPr>
              <a:t>Main stack: TypeScript backend, Python AI server, Solana Anchor smart contracts, Redis, LangGraph orchestration, and React frontend.</a:t>
            </a:r>
          </a:p>
        </p:txBody>
      </p:sp>
      <p:sp>
        <p:nvSpPr>
          <p:cNvPr id="6" name="Pill"/>
          <p:cNvSpPr/>
          <p:nvPr/>
        </p:nvSpPr>
        <p:spPr>
          <a:xfrm>
            <a:off x="914400" y="5943600"/>
            <a:ext cx="292608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</p:sp>
      <p:sp>
        <p:nvSpPr>
          <p:cNvPr id="7" name="PillText"/>
          <p:cNvSpPr txBox="1"/>
          <p:nvPr/>
        </p:nvSpPr>
        <p:spPr>
          <a:xfrm>
            <a:off x="1066800" y="6035040"/>
            <a:ext cx="2438400" cy="274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>
                <a:b/>
                <a:solidFill>
                  <a:srgbClr val="166534"/>
                </a:solidFill>
              </a:rPr>
              <a:t>Real data + DevNet execution</a:t>
            </a:r>
            <a:endParaRPr lang="en-US" sz="15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609600" y="365760"/>
            <a:ext cx="10058400" cy="609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>
                <a:b/>
                <a:solidFill>
                  <a:srgbClr val="111827"/>
                </a:solidFill>
              </a:rPr>
              <a:t>Progress and Remaining Work</a:t>
            </a:r>
            <a:endParaRPr lang="en-US" sz="3200"/>
          </a:p>
        </p:txBody>
      </p:sp>
      <p:sp>
        <p:nvSpPr>
          <p:cNvPr id="4" name="AHead"/>
          <p:cNvSpPr txBox="1"/>
          <p:nvPr/>
        </p:nvSpPr>
        <p:spPr>
          <a:xfrm>
            <a:off x="762000" y="1143000"/>
            <a:ext cx="30480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100">
                <a:b/>
                <a:solidFill>
                  <a:srgbClr val="047857"/>
                </a:solidFill>
              </a:rPr>
              <a:t>Accomplished</a:t>
            </a:r>
            <a:endParaRPr lang="en-US" sz="2100"/>
          </a:p>
        </p:txBody>
      </p:sp>
      <p:sp>
        <p:nvSpPr>
          <p:cNvPr id="5" name="Bullets"/>
          <p:cNvSpPr txBox="1"/>
          <p:nvPr/>
        </p:nvSpPr>
        <p:spPr>
          <a:xfrm>
            <a:off x="762000" y="1600200"/>
            <a:ext cx="5029200" cy="33528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Core infrastructure, Redis cache, logging, metrics, and YAML configuration loaders completed.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Seven opportunity detectors implemented with real data sources and no synthetic seeds.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Three Anchor programs deployed on DevNet: AMM, flash-loan vault, and per-user vault PDA.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AI server available with regime, direction, sentiment, and volatility-expansion endpoints.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LangGraph orchestration completed with per-user queues, reactors, backpressure metrics, and liquidation support.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Frontend cockpit, bot builder, and analytics views wired to real backend data.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Generic N-hop arbitrage detector/executor completed with pre-flight simulation and frontend cycle rendering.</a:t>
            </a:r>
          </a:p>
        </p:txBody>
      </p:sp>
      <p:sp>
        <p:nvSpPr>
          <p:cNvPr id="6" name="THead"/>
          <p:cNvSpPr txBox="1"/>
          <p:nvPr/>
        </p:nvSpPr>
        <p:spPr>
          <a:xfrm>
            <a:off x="6705600" y="1143000"/>
            <a:ext cx="30480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100">
                <a:b/>
                <a:solidFill>
                  <a:srgbClr val="B45309"/>
                </a:solidFill>
              </a:rPr>
              <a:t>Still To Do</a:t>
            </a:r>
            <a:endParaRPr lang="en-US" sz="2100"/>
          </a:p>
        </p:txBody>
      </p:sp>
      <p:sp>
        <p:nvSpPr>
          <p:cNvPr id="7" name="Bullets"/>
          <p:cNvSpPr txBox="1"/>
          <p:nvPr/>
        </p:nvSpPr>
        <p:spPr>
          <a:xfrm>
            <a:off x="6705600" y="1600200"/>
            <a:ext cx="4419600" cy="24384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Wire DefiLlama yield reader into YieldRateMonitor.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Add Helius enhanced WebSocket for faster mempool data.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Finish LLMAdvisor / AITuning pages.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Prepare mainnet trading: real USDC vault, Jupiter aggregator, real Pyth prices, stronger MEV protection.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Start production deployment phase.</a:t>
            </a:r>
          </a:p>
        </p:txBody>
      </p:sp>
      <p:sp>
        <p:nvSpPr>
          <p:cNvPr id="8" name="DateBox"/>
          <p:cNvSpPr/>
          <p:nvPr/>
        </p:nvSpPr>
        <p:spPr>
          <a:xfrm>
            <a:off x="6705600" y="4389120"/>
            <a:ext cx="4419600" cy="121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9" name="DateHead"/>
          <p:cNvSpPr txBox="1"/>
          <p:nvPr/>
        </p:nvSpPr>
        <p:spPr>
          <a:xfrm>
            <a:off x="7000000" y="45900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900">
                <a:b/>
                <a:solidFill>
                  <a:srgbClr val="111827"/>
                </a:solidFill>
              </a:rPr>
              <a:t>Dates</a:t>
            </a:r>
            <a:endParaRPr lang="en-US" sz="1900"/>
          </a:p>
        </p:txBody>
      </p:sp>
      <p:sp>
        <p:nvSpPr>
          <p:cNvPr id="10" name="Bullets"/>
          <p:cNvSpPr txBox="1"/>
          <p:nvPr/>
        </p:nvSpPr>
        <p:spPr>
          <a:xfrm>
            <a:off x="7000000" y="4970000"/>
            <a:ext cx="3657600" cy="6096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Report submission date: [DD/MM/YYYY]</a:t>
            </a:r>
          </a:p>
          <a:p>
            <a:pPr marL="342900" indent="-171450">
              <a:buChar char="?"/>
            </a:pPr>
            <a:r>
              <a:rPr lang="en-US" sz="1450">
                <a:solidFill>
                  <a:srgbClr val="1F2937"/>
                </a:solidFill>
              </a:rPr>
              <a:t>Internship end date: [DD/MM/YYYY]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FE">
  <a:themeElements>
    <a:clrScheme name="PFE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0B981"/>
      </a:accent2>
      <a:accent3>
        <a:srgbClr val="F59E0B"/>
      </a:accent3>
      <a:accent4>
        <a:srgbClr val="64748B"/>
      </a:accent4>
      <a:accent5>
        <a:srgbClr val="0F766E"/>
      </a:accent5>
      <a:accent6>
        <a:srgbClr val="BE123C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PF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PFE2026 Solana Trading Bot Presentation</dc:title>
  <dc:creator>Codex</dc:creator>
  <cp:lastModifiedBy>Codex</cp:lastModifiedBy>
  <dcterms:created xsi:type="dcterms:W3CDTF">2026-05-18T00:00:00Z</dcterms:created>
  <dcterms:modified xsi:type="dcterms:W3CDTF">2026-05-18T00:00:00Z</dcterms:modified>
</cp:coreProperties>
</file>